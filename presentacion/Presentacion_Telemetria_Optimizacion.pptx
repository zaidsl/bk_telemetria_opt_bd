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ALMACENAMIENTO Y MINERÍA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Backups, Telemetría y Optimización SQL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Arquitectura Desacoplada, Resiliencia y Análisis de Rendimiento en Bases de Datos Relacionales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279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Marco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6634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Nivel Académico: </a:t>
            </a:r>
            <a:r>
              <a:rPr sz="1200" b="0">
                <a:solidFill>
                  <a:srgbClr val="94A3B8"/>
                </a:solidFill>
                <a:latin typeface="Segoe UI"/>
              </a:rPr>
              <a:t>8vo Ciclo de Ingeniería de Sistemas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Paradigma: </a:t>
            </a:r>
            <a:r>
              <a:rPr sz="1200" b="0">
                <a:solidFill>
                  <a:srgbClr val="94A3B8"/>
                </a:solidFill>
                <a:latin typeface="Segoe UI"/>
              </a:rPr>
              <a:t>Infraestructura como Código (IaC) con Docker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Motor: </a:t>
            </a:r>
            <a:r>
              <a:rPr sz="1200" b="0">
                <a:solidFill>
                  <a:srgbClr val="94A3B8"/>
                </a:solidFill>
                <a:latin typeface="Segoe UI"/>
              </a:rPr>
              <a:t>PostgreSQL 16 Enterprise con Telemetría Desacoplada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4279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Equipo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663440"/>
            <a:ext cx="475488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 dirty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 dirty="0" err="1">
                <a:solidFill>
                  <a:srgbClr val="E2E8F0"/>
                </a:solidFill>
                <a:latin typeface="Segoe UI"/>
              </a:rPr>
              <a:t>Integrantes</a:t>
            </a:r>
            <a:r>
              <a:rPr sz="1200" b="1" dirty="0">
                <a:solidFill>
                  <a:srgbClr val="E2E8F0"/>
                </a:solidFill>
                <a:latin typeface="Segoe UI"/>
              </a:rPr>
              <a:t>: </a:t>
            </a:r>
            <a:r>
              <a:rPr lang="es-EC" sz="1200" dirty="0">
                <a:solidFill>
                  <a:srgbClr val="E2E8F0"/>
                </a:solidFill>
                <a:latin typeface="Segoe UI"/>
              </a:rPr>
              <a:t>Emily Cayambe, Christian Chacho, 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Zaid San Lucas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 dirty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 dirty="0" err="1">
                <a:solidFill>
                  <a:srgbClr val="E2E8F0"/>
                </a:solidFill>
                <a:latin typeface="Segoe UI"/>
              </a:rPr>
              <a:t>Áreas</a:t>
            </a:r>
            <a:r>
              <a:rPr sz="1200" b="1" dirty="0">
                <a:solidFill>
                  <a:srgbClr val="E2E8F0"/>
                </a:solidFill>
                <a:latin typeface="Segoe UI"/>
              </a:rPr>
              <a:t> de </a:t>
            </a:r>
            <a:r>
              <a:rPr sz="1200" b="1" dirty="0" err="1">
                <a:solidFill>
                  <a:srgbClr val="E2E8F0"/>
                </a:solidFill>
                <a:latin typeface="Segoe UI"/>
              </a:rPr>
              <a:t>Demostración</a:t>
            </a:r>
            <a:r>
              <a:rPr sz="1200" b="1" dirty="0">
                <a:solidFill>
                  <a:srgbClr val="E2E8F0"/>
                </a:solidFill>
                <a:latin typeface="Segoe UI"/>
              </a:rPr>
              <a:t>: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Respaldo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 continuo,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observabilidad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 y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afinamiento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 SQL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 dirty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 dirty="0" err="1">
                <a:solidFill>
                  <a:srgbClr val="E2E8F0"/>
                </a:solidFill>
                <a:latin typeface="Segoe UI"/>
              </a:rPr>
              <a:t>Entorno</a:t>
            </a:r>
            <a:r>
              <a:rPr sz="1200" b="1" dirty="0">
                <a:solidFill>
                  <a:srgbClr val="E2E8F0"/>
                </a:solidFill>
                <a:latin typeface="Segoe UI"/>
              </a:rPr>
              <a:t> de </a:t>
            </a:r>
            <a:r>
              <a:rPr sz="1200" b="1" dirty="0" err="1">
                <a:solidFill>
                  <a:srgbClr val="E2E8F0"/>
                </a:solidFill>
                <a:latin typeface="Segoe UI"/>
              </a:rPr>
              <a:t>Pruebas</a:t>
            </a:r>
            <a:r>
              <a:rPr sz="1200" b="1" dirty="0">
                <a:solidFill>
                  <a:srgbClr val="E2E8F0"/>
                </a:solidFill>
                <a:latin typeface="Segoe UI"/>
              </a:rPr>
              <a:t>: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Contenedores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aislados</a:t>
            </a:r>
            <a:r>
              <a:rPr sz="1200" b="0" dirty="0">
                <a:solidFill>
                  <a:srgbClr val="94A3B8"/>
                </a:solidFill>
                <a:latin typeface="Segoe UI"/>
              </a:rPr>
              <a:t> y </a:t>
            </a:r>
            <a:r>
              <a:rPr sz="1200" b="0" dirty="0" err="1">
                <a:solidFill>
                  <a:srgbClr val="94A3B8"/>
                </a:solidFill>
                <a:latin typeface="Segoe UI"/>
              </a:rPr>
              <a:t>reproducibles</a:t>
            </a:r>
            <a:endParaRPr sz="1200" b="0" dirty="0">
              <a:solidFill>
                <a:srgbClr val="94A3B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CONTEXTO Y DESAFÍOS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¿Por qué fallan las bases de datos en producción?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1. Pérdida Crítica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Riesgo Operativo: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Fallas físicas de disco, corrupción o sentencias destructivas accidentales.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Limitación Tradicional: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Los backups lógicos diarios dejan ventanas de pérdida de varias horas.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Objetivo: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Alcanzar un RPO cercano a cero mediante la captura continua de transacciones.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2. Saturación por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La Paradoja: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Cada sentencia genera registros de auditoría y WAL; los logs crecen más rápido que las tablas.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Competencia de I/O: </a:t>
            </a:r>
            <a:r>
              <a:rPr sz="1200" b="0">
                <a:solidFill>
                  <a:srgbClr val="94A3B8"/>
                </a:solidFill>
                <a:latin typeface="Segoe UI"/>
              </a:rPr>
              <a:t>Almacenar logs en el mismo disco transaccional penaliza las consultas de clientes.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Objetivo: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Desacoplar la ingesta hacia un servidor de observabilidad dedicado.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3. Latencia en Consultas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Degradación: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Tablas con cientos de miles de filas colapsan en memoria ante escaneos secuenciales.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Anti-patrones: </a:t>
            </a:r>
            <a:r>
              <a:rPr sz="1200" b="0">
                <a:solidFill>
                  <a:srgbClr val="94A3B8"/>
                </a:solidFill>
                <a:latin typeface="Segoe UI"/>
              </a:rPr>
              <a:t>Uso inadecuado de funciones en cláusulas WHERE que invalidan índices estándar.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Objetivo: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Reducir latencias de 15ms a 0.1ms mediante árboles B-Tree y tuning asistido.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Arquitectura Desacoplada en Contenedores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Topología de Servicios Aislados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db-primary (PostgreSQL 16): </a:t>
            </a:r>
            <a:r>
              <a:rPr sz="1200" b="0">
                <a:solidFill>
                  <a:srgbClr val="94A3B8"/>
                </a:solidFill>
                <a:latin typeface="Segoe UI"/>
              </a:rPr>
              <a:t>Motor transaccional central con 600,000 registros sintéticos y logging activo.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promtail-agent: </a:t>
            </a:r>
            <a:r>
              <a:rPr sz="1200" b="0">
                <a:solidFill>
                  <a:srgbClr val="94A3B8"/>
                </a:solidFill>
                <a:latin typeface="Segoe UI"/>
              </a:rPr>
              <a:t>Agente de recolección en streaming que lee logs continuos sin impactar el motor.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loki-server: </a:t>
            </a:r>
            <a:r>
              <a:rPr sz="1200" b="0">
                <a:solidFill>
                  <a:srgbClr val="94A3B8"/>
                </a:solidFill>
                <a:latin typeface="Segoe UI"/>
              </a:rPr>
              <a:t>Servidor desacoplado especializado en la indexación comprimida de telemetría.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grafana-dashboard: </a:t>
            </a:r>
            <a:r>
              <a:rPr sz="1200" b="0">
                <a:solidFill>
                  <a:srgbClr val="94A3B8"/>
                </a:solidFill>
                <a:latin typeface="Segoe UI"/>
              </a:rPr>
              <a:t>Capa visual para monitoreo de QPS, errores y rendimiento en tiempo real.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backup_storage: </a:t>
            </a:r>
            <a:r>
              <a:rPr sz="1200" b="0">
                <a:solidFill>
                  <a:srgbClr val="94A3B8"/>
                </a:solidFill>
                <a:latin typeface="Segoe UI"/>
              </a:rPr>
              <a:t>Volumen de almacenamiento aislado para dumps completos y archivos 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Criterios de Diseño Arquitectónico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Aislamiento de I/O: </a:t>
            </a:r>
            <a:r>
              <a:rPr sz="1200" b="0">
                <a:solidFill>
                  <a:srgbClr val="94A3B8"/>
                </a:solidFill>
                <a:latin typeface="Segoe UI"/>
              </a:rPr>
              <a:t>Las consultas de análisis de logs no consumen el ancho de banda del almacenamiento transaccional.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Análisis Post-Mortem: </a:t>
            </a:r>
            <a:r>
              <a:rPr sz="1200" b="0">
                <a:solidFill>
                  <a:srgbClr val="94A3B8"/>
                </a:solidFill>
                <a:latin typeface="Segoe UI"/>
              </a:rPr>
              <a:t>Si la base de datos se detiene o sufre corrupción, los registros de auditoría siguen accesibles en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Cero Presupuesto: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Implementación 100% libre de costos de nube, totalmente reproducible en cualquier equipo con Docker.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Consistencia: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Configuraciones predefinidas en código evitan inconsistencias entre entornos de desarrollo.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MECANISMOS DE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Taxonomía de Backups: Totales, Incrementales y Diferenciales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Fundamentos de Respaldo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Backup Total (Full):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Copia íntegra de estructuras y datos. Base obligatoria para cualquier plan de continuidad.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Backup Incremental: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Almacena únicamente las modificaciones ocurridas desde el respaldo previo más reciente.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Backup Diferencial: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Acumula todas las variaciones producidas desde el último Backup Total registrado.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Métrica RPO: </a:t>
            </a:r>
            <a:r>
              <a:rPr sz="1200" b="0">
                <a:solidFill>
                  <a:srgbClr val="94A3B8"/>
                </a:solidFill>
                <a:latin typeface="Segoe UI"/>
              </a:rPr>
              <a:t>Recovery Point Objective; volumen máximo de transacciones que la organización tolera perder.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Métrica RTO: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Recovery Time Objective; plazo máximo admisible para restablecer la operatividad normal.</a:t>
            </a:r>
          </a:p>
        </p:txBody>
      </p:sp>
      <p:pic>
        <p:nvPicPr>
          <p:cNvPr id="8" name="Picture 7" descr="grafico_tipos_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MECANISMOS DE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Criterios de Selección: ¿Cuándo Utilizar Cada Método?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Escenarios Recomendados por 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Cuándo usar Backup Total: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Ventanas semanales o mensuales de bajo tráfico (ej. domingos en la noche); indispensable antes de migraciones de esquema mayores.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Cuándo usar Backup Diferencial: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diaria nocturna entre semana; recomendado cuando se exige un RTO muy rápido, ya que solo se restaura el Full + último diferencial.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Cuándo usar Backup Incremental: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horaria o continua mediante WAL archiving; ideal para sistemas transaccionales críticos donde el RPO debe ser menor a 5 minutos.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Enfoque Híbrido Estándar: </a:t>
            </a:r>
            <a:r>
              <a:rPr sz="1200" b="0">
                <a:solidFill>
                  <a:srgbClr val="94A3B8"/>
                </a:solidFill>
                <a:latin typeface="Segoe UI"/>
              </a:rPr>
              <a:t>Full semanal + Diferencial diario + Archivado continuo de WALs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Impacto en Recursos y Recuperación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Sobrecarga de I/O en Producción: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Backup Total satura lecturas en disco; el Incremental lee únicamente bloques modificados o registros WAL.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Espacio de Almacenamiento: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Total requiere terabytes de destino; el Incremental minimiza el uso de disco al capturar solo deltas.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Riesgo en la Restauración: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Si un segmento incremental de la cadena se corrompe, los incrementales posteriores se vuelven inválidos.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Velocidad de Restauración (RTO): </a:t>
            </a:r>
            <a:r>
              <a:rPr sz="1200" b="0">
                <a:solidFill>
                  <a:srgbClr val="94A3B8"/>
                </a:solidFill>
                <a:latin typeface="Segoe UI"/>
              </a:rPr>
              <a:t>Diferencial restaura en 2 pasos; Incremental exige aplicar Full + Inc1 + Inc2 + ... + IncN.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ARQUITECTURA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Anatomía del WAL y el Motor de Archivador (archive_mode)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Convención Hexadecimal de 24 Caracteres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Estructura Física: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Cada fichero WAL tiene un tamaño inmutable de exactamente 16.0 MB (ej. 00000001000000000000001D).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Timeline ID (Primeros 8 dígitos): </a:t>
            </a:r>
            <a:r>
              <a:rPr sz="1200" b="0">
                <a:solidFill>
                  <a:srgbClr val="94A3B8"/>
                </a:solidFill>
                <a:latin typeface="Segoe UI"/>
              </a:rPr>
              <a:t>00000001 identifica la línea temporal del motor; se incrementa si una réplica es promovida a nodo maestro.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Log ID (Dígitos 9 al 16): </a:t>
            </a:r>
            <a:r>
              <a:rPr sz="1200" b="0">
                <a:solidFill>
                  <a:srgbClr val="94A3B8"/>
                </a:solidFill>
                <a:latin typeface="Segoe UI"/>
              </a:rPr>
              <a:t>00000000 indica el número de serie del ciclo lógico de registros de transacciones.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Segmento LSN (Últimos 8 dígitos): </a:t>
            </a:r>
            <a:r>
              <a:rPr sz="1200" b="0">
                <a:solidFill>
                  <a:srgbClr val="94A3B8"/>
                </a:solidFill>
                <a:latin typeface="Segoe UI"/>
              </a:rPr>
              <a:t>0000001D representa el número correlativo del segmento dentro del ciclo activo.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Principio WAL Inviolable: </a:t>
            </a:r>
            <a:r>
              <a:rPr sz="1200" b="0">
                <a:solidFill>
                  <a:srgbClr val="94A3B8"/>
                </a:solidFill>
                <a:latin typeface="Segoe UI"/>
              </a:rPr>
              <a:t>Ningún registro se persiste en las tablas de datos sin antes haberse volcado en el 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El Hilo del Motor: archive_mode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Qué es archive_mode: </a:t>
            </a:r>
            <a:r>
              <a:rPr sz="1200" b="0">
                <a:solidFill>
                  <a:srgbClr val="94A3B8"/>
                </a:solidFill>
                <a:latin typeface="Segoe UI"/>
              </a:rPr>
              <a:t>Interruptor maestro que activa el proceso interno de fondo (Archiver Process) en PostgreSQL.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Parámetro POSTMASTER: </a:t>
            </a:r>
            <a:r>
              <a:rPr sz="1200" b="0">
                <a:solidFill>
                  <a:srgbClr val="94A3B8"/>
                </a:solidFill>
                <a:latin typeface="Segoe UI"/>
              </a:rPr>
              <a:t>No puede cambiarse al vuelo con un simple SET en DBeaver; exige reinicio del motor porque reserva memoria compartida al arrancar.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Mecanismo Reactivo: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En lugar de scripts manuales periódicos, el motor expulsa el archivo en el milisegundo exacto en que se sella el bloque de 16MB.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Monitoreo con pg_stat_archiver: </a:t>
            </a:r>
            <a:r>
              <a:rPr sz="1200" b="0">
                <a:solidFill>
                  <a:srgbClr val="94A3B8"/>
                </a:solidFill>
                <a:latin typeface="Segoe UI"/>
              </a:rPr>
              <a:t>Vista del sistema que audita en vivo: archived_count (29 WALs), último archivo y hora exacta de despacho.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OPERACIONES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Comandos Nativos: Banderas Críticas y Sintaxis de Archivador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Generación de Respaldo y archive_command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pg_dump con Formato Custom (-F c):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Comprime con zlib (13 MB para 600k filas) y genera metadatos para restauraciones selectivas o paralelas (-j).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Banderas -b (Blobs) y -v (Verbose): </a:t>
            </a:r>
            <a:r>
              <a:rPr sz="1200" b="0">
                <a:solidFill>
                  <a:srgbClr val="94A3B8"/>
                </a:solidFill>
                <a:latin typeface="Segoe UI"/>
              </a:rPr>
              <a:t>Garantizan integridad binaria y trazabilidad completa de cada tabla exportada.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Sintaxis de archive_command: </a:t>
            </a:r>
            <a:r>
              <a:rPr sz="1200" b="0">
                <a:solidFill>
                  <a:srgbClr val="94A3B8"/>
                </a:solidFill>
                <a:latin typeface="Segoe UI"/>
              </a:rPr>
              <a:t>Utiliza %p (ruta del segmento cerrado en pg_wal) y %f (nombre del fichero) para enviar el WAL al destino seguro.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Rotación Manual (pg_switch_wal): </a:t>
            </a:r>
            <a:r>
              <a:rPr sz="1200" b="0">
                <a:solidFill>
                  <a:srgbClr val="94A3B8"/>
                </a:solidFill>
                <a:latin typeface="Segoe UI"/>
              </a:rPr>
              <a:t>SELECT pg_switch_wal(); fuerza el sellado del bloque activo para archivado inmediato sin esperar archive_timeout.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Procedimiento de Restauración (pg_restore)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Comando de Restauración: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pg_restore -U admin_db -d banco_telemetria --clean --if-exists -v &lt;archivo.dump&gt;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Bandera --clean: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Emite sentencias DROP sobre tablas existentes antes de recrear las estructuras, evitando conflictos.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Bandera --if-exists: </a:t>
            </a:r>
            <a:r>
              <a:rPr sz="1200" b="0">
                <a:solidFill>
                  <a:srgbClr val="94A3B8"/>
                </a:solidFill>
                <a:latin typeface="Segoe UI"/>
              </a:rPr>
              <a:t>Evita que el proceso aborte con error si un objeto a borrar no existía previamente.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Bandera --no-owner: </a:t>
            </a:r>
            <a:r>
              <a:rPr sz="1200" b="0">
                <a:solidFill>
                  <a:srgbClr val="94A3B8"/>
                </a:solidFill>
                <a:latin typeface="Segoe UI"/>
              </a:rPr>
              <a:t>Omite comandos de asignación de propiedad original para permitir restaurar entre diferentes usuarios o entornos.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Consistencia Transaccional: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Utiliza transacciones snapshot con nivel REPEATABLE READ para asegurar coherencia sin bloquear operaciones.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VALIDACIÓN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Simulación de Pérdida de Datos y Restauración de Contingencia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Procedimiento de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Fase 1 (Respaldo Base): </a:t>
            </a:r>
            <a:r>
              <a:rPr sz="1200" b="0">
                <a:solidFill>
                  <a:srgbClr val="94A3B8"/>
                </a:solidFill>
                <a:latin typeface="Segoe UI"/>
              </a:rPr>
              <a:t>Generación de dump binario comprimido de 13 MB mediante pg_dump en 3.9 segundos.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Fase 2 (Transacción Crítica): </a:t>
            </a:r>
            <a:r>
              <a:rPr sz="1200" b="0">
                <a:solidFill>
                  <a:srgbClr val="94A3B8"/>
                </a:solidFill>
                <a:latin typeface="Segoe UI"/>
              </a:rPr>
              <a:t>Registro de movimientos financieros de última hora posteriores al backup base.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Fase 3 (Desastre Simulado):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de sentencia destructiva accidental: DROP TABLE transacciones, cuentas, clientes CASCADE.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Fase 4 (Verificación de Pérdida):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Consulta de catálogo donde se constata la indisponibilidad total de la información.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Fase 5 (Restauración Exitosa):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de procedimiento de contingencia recuperando las 600,000 filas en 5 segundos.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Mecanismo Point-In-Time Recovery (PITR)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Recuperación a Punto Específico: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Combina el último Backup Total con el 'replay' secuencial de los segmentos WAL archivados.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recovery_target_time: </a:t>
            </a:r>
            <a:r>
              <a:rPr sz="1200" b="0">
                <a:solidFill>
                  <a:srgbClr val="94A3B8"/>
                </a:solidFill>
                <a:latin typeface="Segoe UI"/>
              </a:rPr>
              <a:t>Parámetro que permite detener la reproducción de logs en la hora exacta previa al error humano.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recovery_target_lsn: </a:t>
            </a:r>
            <a:r>
              <a:rPr sz="1200" b="0">
                <a:solidFill>
                  <a:srgbClr val="94A3B8"/>
                </a:solidFill>
                <a:latin typeface="Segoe UI"/>
              </a:rPr>
              <a:t>Detención en una posición de bytes exacta de LSN para máxima precisión forense.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Resiliencia Total: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Garantiza que la empresa no pierda las transacciones del día entre el último backup y el desastre.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SOLUCIONES DE GRAN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Ecosistema Corporativo: Respaldos Físicos y Continuos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Respaldos Físicos: pg_basebackup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Copia Binaria Bit a Bit: </a:t>
            </a:r>
            <a:r>
              <a:rPr sz="1200" b="0">
                <a:solidFill>
                  <a:srgbClr val="94A3B8"/>
                </a:solidFill>
                <a:latin typeface="Segoe UI"/>
              </a:rPr>
              <a:t>A diferencia de pg_dump que genera sentencias SQL, pg_basebackup copia los bloques reales de datos ($PGDATA) a nivel de páginas de 8KB.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Streaming de WALs (-Xs): </a:t>
            </a:r>
            <a:r>
              <a:rPr sz="1200" b="0">
                <a:solidFill>
                  <a:srgbClr val="94A3B8"/>
                </a:solidFill>
                <a:latin typeface="Segoe UI"/>
              </a:rPr>
              <a:t>Abre una conexión simultánea que captura en streaming los WALs generados durante la copia para asegurar consistencia.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Configuración de Réplicas (-R): </a:t>
            </a:r>
            <a:r>
              <a:rPr sz="1200" b="0">
                <a:solidFill>
                  <a:srgbClr val="94A3B8"/>
                </a:solidFill>
                <a:latin typeface="Segoe UI"/>
              </a:rPr>
              <a:t>Genera automáticamente el fichero standby.signal y los parámetros de conexión primaria para levantar réplicas en caliente.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Velocidad de Restauración: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Inmediata; el motor arranca directamente sobre los bloques sin tener que reconstruir esquemas ni reindexar.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Herramientas de Nivel Bancario y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pgBackRest (Estándar de la Industria):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software más robusto para backups incrementales y diferenciales a nivel de bloque (delta de páginas de 8KB), compresión multihilo LZ4/Zstandard y deduplicación.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Barman (Backup &amp; Recovery Manager): </a:t>
            </a:r>
            <a:r>
              <a:rPr sz="1200" b="0">
                <a:solidFill>
                  <a:srgbClr val="94A3B8"/>
                </a:solidFill>
                <a:latin typeface="Segoe UI"/>
              </a:rPr>
              <a:t>Desarrollado por EnterpriseDB para la administración remota de catálogos y clusters masivos de bases de datos.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WAL-G (Cloud-Native): </a:t>
            </a:r>
            <a:r>
              <a:rPr sz="1200" b="0">
                <a:solidFill>
                  <a:srgbClr val="94A3B8"/>
                </a:solidFill>
                <a:latin typeface="Segoe UI"/>
              </a:rPr>
              <a:t>Diseñado para Kubernetes y contenedores; envía respaldos físicos y WALs comprimidos directamente hacia buckets en AWS S3, Google Cloud Storage o Azure Blob.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Snapshots de Almacenamiento (SAN/EBS): </a:t>
            </a:r>
            <a:r>
              <a:rPr sz="1200" b="0">
                <a:solidFill>
                  <a:srgbClr val="94A3B8"/>
                </a:solidFill>
                <a:latin typeface="Segoe UI"/>
              </a:rPr>
              <a:t>pg_backup_start() y pg_backup_stop() permiten congelar la consistencia y tomar snapshots de disco virtual en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OBSERVABILIDAD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Telemetría de Consultas y Almacenamiento Centralizado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Dimensiones de la Telemetría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Más allá del Hardware: </a:t>
            </a:r>
            <a:r>
              <a:rPr sz="1200" b="0">
                <a:solidFill>
                  <a:srgbClr val="94A3B8"/>
                </a:solidFill>
                <a:latin typeface="Segoe UI"/>
              </a:rPr>
              <a:t>No se limita al uso de CPU o memoria; audita cada sentencia ejecutada por clientes y aplicaciones.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Throughput (QPS): </a:t>
            </a:r>
            <a:r>
              <a:rPr sz="1200" b="0">
                <a:solidFill>
                  <a:srgbClr val="94A3B8"/>
                </a:solidFill>
                <a:latin typeface="Segoe UI"/>
              </a:rPr>
              <a:t>Mide el volumen de operaciones por segundo y detecta picos de demanda inusuales.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Composición DML: </a:t>
            </a:r>
            <a:r>
              <a:rPr sz="1200" b="0">
                <a:solidFill>
                  <a:srgbClr val="94A3B8"/>
                </a:solidFill>
                <a:latin typeface="Segoe UI"/>
              </a:rPr>
              <a:t>Distribución entre consultas de lectura (SELECT) y operaciones de escritura (INSERT, UPDATE).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Alertas Tempranas: </a:t>
            </a:r>
            <a:r>
              <a:rPr sz="1200" b="0">
                <a:solidFill>
                  <a:srgbClr val="94A3B8"/>
                </a:solidFill>
                <a:latin typeface="Segoe UI"/>
              </a:rPr>
              <a:t>Identificación inmediata de bloqueos (locks), transacciones canceladas y rollbacks.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Eficiencia de Grafana Loki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Indexación por Metadatos: </a:t>
            </a:r>
            <a:r>
              <a:rPr sz="1200" b="0">
                <a:solidFill>
                  <a:srgbClr val="94A3B8"/>
                </a:solidFill>
                <a:latin typeface="Segoe UI"/>
              </a:rPr>
              <a:t>A diferencia de motores convencionales, Loki solo indexa etiquetas; reduce el consumo de RAM hasta un 90%.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Consumo No Invasivo: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Promtail recopila logs en streaming sin abrir bloqueos de tabla ni interferir en sesiones activas.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Visibilidad Central: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Dashboards dinámicos permiten correlacionar latencias de consultas con eventos del motor.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Retención Independiente: </a:t>
            </a:r>
            <a:r>
              <a:rPr sz="1200" b="0">
                <a:solidFill>
                  <a:srgbClr val="94A3B8"/>
                </a:solidFill>
                <a:latin typeface="Segoe UI"/>
              </a:rPr>
              <a:t>Políticas de archivado de logs sin comprometer el ciclo de vida de los datos transaccionales.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DIAGNÓSTICO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Comportamiento del Almacenamiento: Datos vs Logs Transaccionales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Hallazgos de la Simulación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Condición de Prueba: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continua de 500 sentencias UPDATE consecutivas sobre una única fila de saldo.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Resultado en Tablas: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tamaño físico de la tabla en disco se mantiene invariable (~12.1 MB).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Resultado en Logs: </a:t>
            </a:r>
            <a:r>
              <a:rPr sz="1200" b="0">
                <a:solidFill>
                  <a:srgbClr val="94A3B8"/>
                </a:solidFill>
                <a:latin typeface="Segoe UI"/>
              </a:rPr>
              <a:t>Se emitieron 500 registros WAL de 16 MB y cientos de entradas de auditoría hacia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Conclusión Crítica: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almacenamiento de logs crece en función de la actividad operativa, no del número de filas.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Principio Rector: </a:t>
            </a:r>
            <a:r>
              <a:rPr sz="1200" b="0">
                <a:solidFill>
                  <a:srgbClr val="94A3B8"/>
                </a:solidFill>
                <a:latin typeface="Segoe UI"/>
              </a:rPr>
              <a:t>La separación de discos e instancias de log es indispensable para evitar incidentes por disco lleno.</a:t>
            </a:r>
          </a:p>
        </p:txBody>
      </p:sp>
      <p:pic>
        <p:nvPicPr>
          <p:cNvPr id="8" name="Picture 7" descr="grafico_paradoja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AFINAMIENTO DE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Fundamentos de EXPLAIN ANALYZE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¿Qué es EXPLAIN ANALYZE?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Propósito: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Es el comando que le pide a PostgreSQL que ejecute la consulta y revele exactamente cómo la procesó internamente paso a paso.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Tiempo de Ejecución: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Muestra el tiempo real (en milisegundos) que el motor tardó en procesar la consulta completa.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Buffers (Hit vs Read): </a:t>
            </a:r>
            <a:r>
              <a:rPr sz="1200" b="0">
                <a:solidFill>
                  <a:srgbClr val="94A3B8"/>
                </a:solidFill>
                <a:latin typeface="Segoe UI"/>
              </a:rPr>
              <a:t>Hit = la información se leyó directamente desde la RAM (rápido). Read = se tuvo que ir al disco físico a buscarla (lento, cuello de botella).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Sintaxis Utilizada: </a:t>
            </a:r>
            <a:r>
              <a:rPr sz="1200" b="0">
                <a:solidFill>
                  <a:srgbClr val="94A3B8"/>
                </a:solidFill>
                <a:latin typeface="Segoe UI"/>
              </a:rPr>
              <a:t>EXPLAIN (ANALYZE, BUFFERS, FORMAT TEXT) seguido de la consulta SQL que se desea inspeccionar.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Tipos de Escaneo que Revela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Sequential Scan (Seq Scan): </a:t>
            </a:r>
            <a:r>
              <a:rPr sz="1200" b="0">
                <a:solidFill>
                  <a:srgbClr val="94A3B8"/>
                </a:solidFill>
                <a:latin typeface="Segoe UI"/>
              </a:rPr>
              <a:t>Recorre TODAS las filas de la tabla una por una hasta encontrar las que coinciden. Es lento en tablas grandes con búsquedas selectivas.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Index Scan: </a:t>
            </a:r>
            <a:r>
              <a:rPr sz="1200" b="0">
                <a:solidFill>
                  <a:srgbClr val="94A3B8"/>
                </a:solidFill>
                <a:latin typeface="Segoe UI"/>
              </a:rPr>
              <a:t>Usa un índice para ir directamente a las filas que necesita sin leer toda la tabla. Complejidad logarítmica O(log N).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Bitmap Heap Scan: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Estrategia intermedia: primero construye un mapa de páginas válidas usando índices y luego lee solo esas páginas del disco.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Nodo Sort: </a:t>
            </a:r>
            <a:r>
              <a:rPr sz="1200" b="0">
                <a:solidFill>
                  <a:srgbClr val="94A3B8"/>
                </a:solidFill>
                <a:latin typeface="Segoe UI"/>
              </a:rPr>
              <a:t>Aparece cuando PostgreSQL necesita ordenar datos en memoria. Un buen índice compuesto puede eliminarlo por completo.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TÉCNICAS DE INDEXACIÓN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¿Qué hace cada índice y cuándo conviene usarlo?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Índice B-Tree e Índice Compuesto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B-Tree (Árbol Balanceado): </a:t>
            </a:r>
            <a:r>
              <a:rPr sz="1200" b="0">
                <a:solidFill>
                  <a:srgbClr val="94A3B8"/>
                </a:solidFill>
                <a:latin typeface="Segoe UI"/>
              </a:rPr>
              <a:t>Organiza los valores en una estructura de árbol ordenada. Cada búsqueda descarta la mitad de los datos en cada paso, por eso es logarítmico.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¿Cuándo usarlo?: </a:t>
            </a:r>
            <a:r>
              <a:rPr sz="1200" b="0">
                <a:solidFill>
                  <a:srgbClr val="94A3B8"/>
                </a:solidFill>
                <a:latin typeface="Segoe UI"/>
              </a:rPr>
              <a:t>Cuando se buscan valores exactos (=), rangos (BETWEEN, &lt;, &gt;) o se necesita ordenar resultados (ORDER BY). Es el más versátil y el índice por defecto.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Índice Compuesto: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Un B-Tree que indexa dos o más columnas juntas. El orden de las columnas importa: la primera filtra y la segunda ordena.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¿Cuándo usarlo?: </a:t>
            </a:r>
            <a:r>
              <a:rPr sz="1200" b="0">
                <a:solidFill>
                  <a:srgbClr val="94A3B8"/>
                </a:solidFill>
                <a:latin typeface="Segoe UI"/>
              </a:rPr>
              <a:t>Cuando las consultas siempre filtran por una columna y ordenan por otra, como obtener las últimas transacciones de una cuenta específica.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Índice Hash y Bitmap Index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Hash: </a:t>
            </a:r>
            <a:r>
              <a:rPr sz="1200" b="0">
                <a:solidFill>
                  <a:srgbClr val="94A3B8"/>
                </a:solidFill>
                <a:latin typeface="Segoe UI"/>
              </a:rPr>
              <a:t>Aplica una función de dispersión que convierte el valor en una posición fija. La búsqueda es directa sin recorrer una estructura de árbol.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¿Cuándo usarlo?: </a:t>
            </a:r>
            <a:r>
              <a:rPr sz="1200" b="0">
                <a:solidFill>
                  <a:srgbClr val="94A3B8"/>
                </a:solidFill>
                <a:latin typeface="Segoe UI"/>
              </a:rPr>
              <a:t>Exclusivamente para igualdad exacta (=). No funciona con rangos ni con ORDER BY. Ideal para columnas de tipo categórico (estados, tipos).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Bitmap Index Scan: </a:t>
            </a:r>
            <a:r>
              <a:rPr sz="1200" b="0">
                <a:solidFill>
                  <a:srgbClr val="94A3B8"/>
                </a:solidFill>
                <a:latin typeface="Segoe UI"/>
              </a:rPr>
              <a:t>No es un índice que se crea, sino una estrategia del planificador. Combina varios índices individuales mediante operaciones AND/OR sobre mapas de bits.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¿Cuándo aparece?: </a:t>
            </a:r>
            <a:r>
              <a:rPr sz="1200" b="0">
                <a:solidFill>
                  <a:srgbClr val="94A3B8"/>
                </a:solidFill>
                <a:latin typeface="Segoe UI"/>
              </a:rPr>
              <a:t>Cuando la consulta tiene múltiples condiciones en el WHERE (ej. dni = X OR estado = Y). PostgreSQL fusiona los mapas de bits de cada índice.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APLICACIÓN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Índice B-Tree e Índice Compuesto sobre la Base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Caso 1: B-Tree sobre DNI (Tabla Clientes)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Problema: </a:t>
            </a:r>
            <a:r>
              <a:rPr sz="1200" b="0">
                <a:solidFill>
                  <a:srgbClr val="94A3B8"/>
                </a:solidFill>
                <a:latin typeface="Segoe UI"/>
              </a:rPr>
              <a:t>Buscar un cliente por su DNI obliga al motor a recorrer las 100,000 filas de la tabla completa (Sequential Scan).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Solución Aplicada: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CREATE INDEX idx_clientes_dni_btree ON clientes USING btree (dni);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Qué Observar en EXPLAIN: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plan de ejecución cambia de Seq Scan a Index Scan. El número de buffers leídos baja drásticamente.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Demostración: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Ejecutar en vivo el Caso 1 de optimizacion/guia_indices.sql y comparar los resultados antes y después.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Caso 2: Compuesto sobre Transacciones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Problema: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Consultar las últimas transacciones de una cuenta genera un Seq Scan sobre toda la tabla más un Sort en memoria para ordenar por fecha.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Solución Aplicada: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CREATE INDEX idx_transacciones_cuenta_fecha ON transacciones USING btree (cuenta_id, fecha_hora DESC);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Qué Observar en EXPLAIN: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El nodo Sort desaparece completamente porque el índice ya entrega los datos en el orden solicitado.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Demostración: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Ejecutar en vivo el Caso 2 de optimizacion/guia_indices.sql y verificar la eliminación del Sort.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APLICACIÓN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Índice Hash y Bitmap Index Scan sobre la Base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Caso 3: Hash sobre Tipo de Cuenta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Problema: </a:t>
            </a:r>
            <a:r>
              <a:rPr sz="1200" b="0">
                <a:solidFill>
                  <a:srgbClr val="94A3B8"/>
                </a:solidFill>
                <a:latin typeface="Segoe UI"/>
              </a:rPr>
              <a:t>Filtrar cuentas por tipo (AHORROS, CORRIENTE) recorre toda la tabla porque no existe un índice sobre esa columna.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Solución Aplicada: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CREATE INDEX idx_cuentas_tipo_hash ON cuentas USING hash (tipo_cuenta);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Qué Observar en EXPLAIN: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 igualdad (=) el motor usa el índice Hash. Con rango (&gt;) lo ignora y vuelve a Seq Scan, demostrando su limitación.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Demostración: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Ejecutar en vivo el Caso 3 de optimizacion/guia_indices.sql con igualdad y luego con rango.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Caso 4: Bitmap Index Scan Automático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Problema: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Consultas con múltiples condiciones (WHERE dni = X OR estado = Y) no pueden resolverse con un solo índice.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Solución Observada: </a:t>
            </a:r>
            <a:r>
              <a:rPr sz="1200" b="0">
                <a:solidFill>
                  <a:srgbClr val="94A3B8"/>
                </a:solidFill>
                <a:latin typeface="Segoe UI"/>
              </a:rPr>
              <a:t>PostgreSQL combina automáticamente los índices idx_clientes_dni_btree e idx_clientes_estado mediante BitmapOr o BitmapAnd.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Qué Observar en EXPLAIN: </a:t>
            </a:r>
            <a:r>
              <a:rPr sz="1200" b="0">
                <a:solidFill>
                  <a:srgbClr val="94A3B8"/>
                </a:solidFill>
                <a:latin typeface="Segoe UI"/>
              </a:rPr>
              <a:t>Aparecen nodos BitmapOr/BitmapAnd que fusionan mapas de bits de cada índice y luego un Bitmap Heap Scan lee solo las páginas necesarias.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Demostración: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Ejecutar en vivo el Caso 4 de optimizacion/guia_indices.sql con condiciones OR y 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METODOLOGÍA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Flujo Integrado de Demostración del Laboratorio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1: Línea Base y Respaldo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Poblado Inicial: </a:t>
            </a:r>
            <a:r>
              <a:rPr sz="1200" b="0">
                <a:solidFill>
                  <a:srgbClr val="94A3B8"/>
                </a:solidFill>
                <a:latin typeface="Segoe UI"/>
              </a:rPr>
              <a:t>Generación masiva de 600,000 registros sintéticos en PostgreSQL mediante funciones de memoria.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Respaldo Completo: </a:t>
            </a:r>
            <a:r>
              <a:rPr sz="1200" b="0">
                <a:solidFill>
                  <a:srgbClr val="94A3B8"/>
                </a:solidFill>
                <a:latin typeface="Segoe UI"/>
              </a:rPr>
              <a:t>Ejecución de snapshot inicial en formato comprimido dentro del almacenamiento aislado.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Recuperación PITR: </a:t>
            </a:r>
            <a:r>
              <a:rPr sz="1200" b="0">
                <a:solidFill>
                  <a:srgbClr val="94A3B8"/>
                </a:solidFill>
                <a:latin typeface="Segoe UI"/>
              </a:rPr>
              <a:t>Simulación de incidente destructivo y validación de consistencia transaccional tras restaurar.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2: Telemetría y Carga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Inyección Concurrente: </a:t>
            </a:r>
            <a:r>
              <a:rPr sz="1200" b="0">
                <a:solidFill>
                  <a:srgbClr val="94A3B8"/>
                </a:solidFill>
                <a:latin typeface="Segoe UI"/>
              </a:rPr>
              <a:t>Simulación de tráfico transaccional continuo (lecturas, transferencias y rollbacks).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Transmisión en Streaming: </a:t>
            </a:r>
            <a:r>
              <a:rPr sz="1200" b="0">
                <a:solidFill>
                  <a:srgbClr val="94A3B8"/>
                </a:solidFill>
                <a:latin typeface="Segoe UI"/>
              </a:rPr>
              <a:t>Captura en tiempo real de eventos con Promtail hacia el repositorio de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Monitoreo en Vivo: </a:t>
            </a:r>
            <a:r>
              <a:rPr sz="1200" b="0">
                <a:solidFill>
                  <a:srgbClr val="94A3B8"/>
                </a:solidFill>
                <a:latin typeface="Segoe UI"/>
              </a:rPr>
              <a:t>Inspección de curvas de QPS, patrones de escritura y registro de errores en Grafana.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3: Diagnóstico y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Detección de Cuellos: </a:t>
            </a:r>
            <a:r>
              <a:rPr sz="1200" b="0">
                <a:solidFill>
                  <a:srgbClr val="94A3B8"/>
                </a:solidFill>
                <a:latin typeface="Segoe UI"/>
              </a:rPr>
              <a:t>Identificación de sentencias costosas reportadas por telemetría y pg_stat_statements.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Análisis de Planes: </a:t>
            </a:r>
            <a:r>
              <a:rPr sz="1200" b="0">
                <a:solidFill>
                  <a:srgbClr val="94A3B8"/>
                </a:solidFill>
                <a:latin typeface="Segoe UI"/>
              </a:rPr>
              <a:t>Evaluación de costos y lecturas de bloques de disco mediante EXPLAIN ANALYZE.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200" b="1">
                <a:solidFill>
                  <a:srgbClr val="E2E8F0"/>
                </a:solidFill>
                <a:latin typeface="Segoe UI"/>
              </a:rPr>
              <a:t>Verificación de Índices: </a:t>
            </a:r>
            <a:r>
              <a:rPr sz="1200" b="0">
                <a:solidFill>
                  <a:srgbClr val="94A3B8"/>
                </a:solidFill>
                <a:latin typeface="Segoe UI"/>
              </a:rPr>
              <a:t>Constatación inmediata de la caída drástica en la latencia tras crear las estructuras.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SÍNTESIS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Conclusiones y Recomendaciones de Arquitectura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Principios Fundamentales para Entornos Empresariales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300" b="1">
                <a:solidFill>
                  <a:srgbClr val="E2E8F0"/>
                </a:solidFill>
                <a:latin typeface="Segoe UI"/>
              </a:rPr>
              <a:t>1. Continuidad Operativa: </a:t>
            </a:r>
            <a:r>
              <a:rPr sz="1300" b="0">
                <a:solidFill>
                  <a:srgbClr val="94A3B8"/>
                </a:solidFill>
                <a:latin typeface="Segoe UI"/>
              </a:rPr>
              <a:t>Los respaldos estáticos son insuficientes para sistemas de alta disponibilidad; el archivado continuo de transacciones (WAL) es indispensable para minimizar el RPO ante contingencias críticas.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300" b="1">
                <a:solidFill>
                  <a:srgbClr val="E2E8F0"/>
                </a:solidFill>
                <a:latin typeface="Segoe UI"/>
              </a:rPr>
              <a:t>2. Aislamiento de Observabilidad: </a:t>
            </a:r>
            <a:r>
              <a:rPr sz="1300" b="0">
                <a:solidFill>
                  <a:srgbClr val="94A3B8"/>
                </a:solidFill>
                <a:latin typeface="Segoe UI"/>
              </a:rPr>
              <a:t>La telemetría genera un volumen de datos superior al del propio negocio; su desacoplamiento a servidores dedicados (Loki) salvaguarda el rendimiento de disco y la CPU de producción.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300" b="1">
                <a:solidFill>
                  <a:srgbClr val="E2E8F0"/>
                </a:solidFill>
                <a:latin typeface="Segoe UI"/>
              </a:rPr>
              <a:t>3. Diagnóstico Científico: </a:t>
            </a:r>
            <a:r>
              <a:rPr sz="1300" b="0">
                <a:solidFill>
                  <a:srgbClr val="94A3B8"/>
                </a:solidFill>
                <a:latin typeface="Segoe UI"/>
              </a:rPr>
              <a:t>La optimización de bases de datos requiere evidencia cuantitativa; la telemetría señala dónde ocurren las demoras, y el plan de ejecución revela las causas a nivel de bloques de almacenamiento.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>
                <a:solidFill>
                  <a:srgbClr val="60A5FA"/>
                </a:solidFill>
                <a:latin typeface="Segoe UI"/>
              </a:rPr>
              <a:t>•  </a:t>
            </a:r>
            <a:r>
              <a:rPr sz="1300" b="1">
                <a:solidFill>
                  <a:srgbClr val="E2E8F0"/>
                </a:solidFill>
                <a:latin typeface="Segoe UI"/>
              </a:rPr>
              <a:t>4. Viabilidad con Código Abierto: </a:t>
            </a:r>
            <a:r>
              <a:rPr sz="1300" b="0">
                <a:solidFill>
                  <a:srgbClr val="94A3B8"/>
                </a:solidFill>
                <a:latin typeface="Segoe UI"/>
              </a:rPr>
              <a:t>Mediante contenedores y herramientas open source (PostgreSQL, Loki, Grafana), es factible desplegar una plataforma de resiliencia y monitoreo de nivel corporativo con costo de infraestructura nulo.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3390</Words>
  <Application>Microsoft Office PowerPoint</Application>
  <PresentationFormat>Panorámica</PresentationFormat>
  <Paragraphs>198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Zaid San Lucas</cp:lastModifiedBy>
  <cp:revision>2</cp:revision>
  <dcterms:created xsi:type="dcterms:W3CDTF">2013-01-27T09:14:16Z</dcterms:created>
  <dcterms:modified xsi:type="dcterms:W3CDTF">2026-09-28T12:00:40Z</dcterms:modified>
  <cp:category/>
</cp:coreProperties>
</file>